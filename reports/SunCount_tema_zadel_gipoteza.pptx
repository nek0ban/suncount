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D5858E-0472-4221-AF6B-E0DA35155479}">
  <a:tblStyle styleId="{10D5858E-0472-4221-AF6B-E0DA351554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 txBox="1">
            <a:spLocks noGrp="1"/>
          </p:cNvSpPr>
          <p:nvPr>
            <p:ph type="ctrTitle"/>
          </p:nvPr>
        </p:nvSpPr>
        <p:spPr>
          <a:xfrm>
            <a:off x="1754908" y="1122363"/>
            <a:ext cx="959889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200"/>
              <a:buFont typeface="Calibri"/>
              <a:buNone/>
              <a:defRPr sz="4200" b="1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ubTitle" idx="1"/>
          </p:nvPr>
        </p:nvSpPr>
        <p:spPr>
          <a:xfrm>
            <a:off x="1754908" y="3602038"/>
            <a:ext cx="959889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0" y="5349876"/>
            <a:ext cx="12192000" cy="1508124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3"/>
          <p:cNvPicPr preferRelativeResize="0"/>
          <p:nvPr/>
        </p:nvPicPr>
        <p:blipFill rotWithShape="1">
          <a:blip r:embed="rId2">
            <a:alphaModFix/>
          </a:blip>
          <a:srcRect l="4353" t="4341" r="2772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42" name="Google Shape;4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>
            <a:spLocks noGrp="1"/>
          </p:cNvSpPr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Calibri"/>
              <a:buNone/>
              <a:defRPr sz="3200" b="1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1"/>
          </p:nvPr>
        </p:nvSpPr>
        <p:spPr>
          <a:xfrm>
            <a:off x="1754908" y="1825626"/>
            <a:ext cx="959889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6" name="Google Shape;46;p4"/>
          <p:cNvCxnSpPr/>
          <p:nvPr/>
        </p:nvCxnSpPr>
        <p:spPr>
          <a:xfrm>
            <a:off x="1754908" y="1736870"/>
            <a:ext cx="8672947" cy="0"/>
          </a:xfrm>
          <a:prstGeom prst="straightConnector1">
            <a:avLst/>
          </a:prstGeom>
          <a:noFill/>
          <a:ln w="5715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7" name="Google Shape;47;p4"/>
          <p:cNvPicPr preferRelativeResize="0"/>
          <p:nvPr/>
        </p:nvPicPr>
        <p:blipFill rotWithShape="1">
          <a:blip r:embed="rId2">
            <a:alphaModFix/>
          </a:blip>
          <a:srcRect l="4353" t="4341" r="2772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>
            <a:spLocks noGrp="1"/>
          </p:cNvSpPr>
          <p:nvPr>
            <p:ph type="sldNum" idx="12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0" name="Google Shape;5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>
  <p:cSld name="Два объекта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body" idx="1"/>
          </p:nvPr>
        </p:nvSpPr>
        <p:spPr>
          <a:xfrm>
            <a:off x="7088908" y="1825625"/>
            <a:ext cx="426489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Calibri"/>
              <a:buNone/>
              <a:defRPr sz="3200" b="1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4" name="Google Shape;54;p5"/>
          <p:cNvCxnSpPr/>
          <p:nvPr/>
        </p:nvCxnSpPr>
        <p:spPr>
          <a:xfrm>
            <a:off x="1754908" y="1736870"/>
            <a:ext cx="8672947" cy="0"/>
          </a:xfrm>
          <a:prstGeom prst="straightConnector1">
            <a:avLst/>
          </a:prstGeom>
          <a:noFill/>
          <a:ln w="5715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" name="Google Shape;55;p5"/>
          <p:cNvSpPr txBox="1">
            <a:spLocks noGrp="1"/>
          </p:cNvSpPr>
          <p:nvPr>
            <p:ph type="body" idx="2"/>
          </p:nvPr>
        </p:nvSpPr>
        <p:spPr>
          <a:xfrm>
            <a:off x="1784925" y="1825625"/>
            <a:ext cx="426489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5"/>
          <p:cNvPicPr preferRelativeResize="0"/>
          <p:nvPr/>
        </p:nvPicPr>
        <p:blipFill rotWithShape="1">
          <a:blip r:embed="rId2">
            <a:alphaModFix/>
          </a:blip>
          <a:srcRect l="4353" t="4341" r="2772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 txBox="1">
            <a:spLocks noGrp="1"/>
          </p:cNvSpPr>
          <p:nvPr>
            <p:ph type="sldNum" idx="12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9" name="Google Shape;5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Два объекта">
  <p:cSld name="1_Два объекта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7088908" y="1825625"/>
            <a:ext cx="426489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Calibri"/>
              <a:buNone/>
              <a:defRPr sz="3200" b="1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6"/>
          <p:cNvCxnSpPr/>
          <p:nvPr/>
        </p:nvCxnSpPr>
        <p:spPr>
          <a:xfrm>
            <a:off x="1754908" y="1736870"/>
            <a:ext cx="8672947" cy="0"/>
          </a:xfrm>
          <a:prstGeom prst="straightConnector1">
            <a:avLst/>
          </a:prstGeom>
          <a:noFill/>
          <a:ln w="5715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6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l="4353" t="4341" r="2772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 txBox="1">
            <a:spLocks noGrp="1"/>
          </p:cNvSpPr>
          <p:nvPr>
            <p:ph type="sldNum" idx="12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7" name="Google Shape;6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>
            <a:spLocks noGrp="1"/>
          </p:cNvSpPr>
          <p:nvPr>
            <p:ph type="title"/>
          </p:nvPr>
        </p:nvSpPr>
        <p:spPr>
          <a:xfrm>
            <a:off x="1801090" y="1709738"/>
            <a:ext cx="9546359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200"/>
              <a:buFont typeface="Calibri"/>
              <a:buNone/>
              <a:defRPr sz="4200" b="1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1"/>
          </p:nvPr>
        </p:nvSpPr>
        <p:spPr>
          <a:xfrm>
            <a:off x="1801090" y="4589463"/>
            <a:ext cx="954636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1"/>
          <p:cNvSpPr/>
          <p:nvPr/>
        </p:nvSpPr>
        <p:spPr>
          <a:xfrm>
            <a:off x="0" y="6223146"/>
            <a:ext cx="12192000" cy="634851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1"/>
          <p:cNvPicPr preferRelativeResize="0"/>
          <p:nvPr/>
        </p:nvPicPr>
        <p:blipFill rotWithShape="1">
          <a:blip r:embed="rId2">
            <a:alphaModFix/>
          </a:blip>
          <a:srcRect l="4353" t="4341" r="2772"/>
          <a:stretch/>
        </p:blipFill>
        <p:spPr>
          <a:xfrm>
            <a:off x="0" y="0"/>
            <a:ext cx="1530885" cy="15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>
            <a:spLocks noGrp="1"/>
          </p:cNvSpPr>
          <p:nvPr>
            <p:ph type="sldNum" idx="12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5791" y="44162"/>
            <a:ext cx="1878445" cy="251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801090" y="365125"/>
            <a:ext cx="955270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200"/>
              <a:buFont typeface="Calibri"/>
              <a:buNone/>
              <a:defRPr sz="42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801090" y="1871807"/>
            <a:ext cx="955271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17764" y="6448712"/>
            <a:ext cx="18209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448713"/>
            <a:ext cx="4102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9331036" y="644871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7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>
            <a:spLocks noGrp="1"/>
          </p:cNvSpPr>
          <p:nvPr>
            <p:ph type="ctrTitle"/>
          </p:nvPr>
        </p:nvSpPr>
        <p:spPr>
          <a:xfrm>
            <a:off x="1754908" y="1122363"/>
            <a:ext cx="959889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5400" b="1" i="0" dirty="0">
                <a:solidFill>
                  <a:srgbClr val="1F4E79"/>
                </a:solidFill>
                <a:latin typeface="Calibri"/>
                <a:cs typeface="Calibri"/>
              </a:rPr>
              <a:t>SunCount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600" b="0" i="0" dirty="0">
                <a:solidFill>
                  <a:srgbClr val="1A1A1A"/>
                </a:solidFill>
                <a:latin typeface="Calibri"/>
                <a:cs typeface="Calibri"/>
              </a:rPr>
              <a:t>Калькулятор окупаемости домашней солнечной электростанции для Адыгеи и Краснодарского края</a:t>
            </a:r>
          </a:p>
        </p:txBody>
      </p:sp>
      <p:sp>
        <p:nvSpPr>
          <p:cNvPr id="107" name="Google Shape;107;p12"/>
          <p:cNvSpPr txBox="1">
            <a:spLocks noGrp="1"/>
          </p:cNvSpPr>
          <p:nvPr>
            <p:ph type="subTitle" idx="1"/>
          </p:nvPr>
        </p:nvSpPr>
        <p:spPr>
          <a:xfrm>
            <a:off x="1754908" y="3602038"/>
            <a:ext cx="959889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ru-RU" sz="1800" b="0" i="0" dirty="0">
                <a:solidFill>
                  <a:srgbClr val="404040"/>
                </a:solidFill>
                <a:latin typeface="Calibri"/>
                <a:cs typeface="Calibri"/>
              </a:rPr>
              <a:t>Проектная работа · команда 2: экономическая модель и калькулятор</a:t>
            </a:r>
          </a:p>
        </p:txBody>
      </p:sp>
      <p:sp>
        <p:nvSpPr>
          <p:cNvPr id="201" name="Подпись в полосе"/>
          <p:cNvSpPr txBox="1"/>
          <p:nvPr/>
        </p:nvSpPr>
        <p:spPr>
          <a:xfrm>
            <a:off x="1754908" y="5650000"/>
            <a:ext cx="959889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FFFFFF"/>
                </a:solidFill>
                <a:latin typeface="Calibri"/>
                <a:cs typeface="Calibri"/>
              </a:rPr>
              <a:t>Адыгейский государственный университет · Майкоп,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25546C-30F8-4AB0-91EF-5C67E033E735}"/>
              </a:ext>
            </a:extLst>
          </p:cNvPr>
          <p:cNvSpPr txBox="1"/>
          <p:nvPr/>
        </p:nvSpPr>
        <p:spPr>
          <a:xfrm>
            <a:off x="1754907" y="4380932"/>
            <a:ext cx="8876699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>
                <a:latin typeface="+mn-lt"/>
                <a:cs typeface="VAG World" pitchFamily="2" charset="0"/>
              </a:rPr>
              <a:t>Наставник</a:t>
            </a:r>
            <a:r>
              <a:rPr lang="ru-RU" sz="1800" dirty="0">
                <a:latin typeface="+mn-lt"/>
                <a:cs typeface="VAG World" pitchFamily="2" charset="0"/>
              </a:rPr>
              <a:t>: Онищенко Стефан Владимирович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 sz="1800" b="1" dirty="0">
                <a:latin typeface="+mn-lt"/>
                <a:cs typeface="VAG World" pitchFamily="2" charset="0"/>
              </a:rPr>
              <a:t>Участники команды 2</a:t>
            </a:r>
            <a:r>
              <a:rPr lang="ru-RU" sz="1800" dirty="0">
                <a:latin typeface="+mn-lt"/>
                <a:cs typeface="VAG World" pitchFamily="2" charset="0"/>
              </a:rPr>
              <a:t>: Власов Кирилл, Прищепа Максим, </a:t>
            </a:r>
            <a:r>
              <a:rPr lang="ru-RU" sz="1800" dirty="0" err="1">
                <a:latin typeface="+mn-lt"/>
                <a:cs typeface="VAG World" pitchFamily="2" charset="0"/>
              </a:rPr>
              <a:t>Цирульник</a:t>
            </a:r>
            <a:r>
              <a:rPr lang="ru-RU" sz="1800" dirty="0">
                <a:latin typeface="+mn-lt"/>
                <a:cs typeface="VAG World" pitchFamily="2" charset="0"/>
              </a:rPr>
              <a:t> Юрий, Кривоносов Вячеслав, </a:t>
            </a:r>
            <a:r>
              <a:rPr lang="ru-RU" sz="1800" dirty="0" err="1">
                <a:latin typeface="+mn-lt"/>
                <a:cs typeface="VAG World" pitchFamily="2" charset="0"/>
              </a:rPr>
              <a:t>Рогочий</a:t>
            </a:r>
            <a:r>
              <a:rPr lang="ru-RU" sz="1800" dirty="0">
                <a:latin typeface="+mn-lt"/>
                <a:cs typeface="VAG World" pitchFamily="2" charset="0"/>
              </a:rPr>
              <a:t> Александр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>
            <a:spLocks noGrp="1"/>
          </p:cNvSpPr>
          <p:nvPr>
            <p:ph type="title"/>
          </p:nvPr>
        </p:nvSpPr>
        <p:spPr>
          <a:xfrm>
            <a:off x="1754908" y="272761"/>
            <a:ext cx="959889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dirty="0">
                <a:solidFill>
                  <a:srgbClr val="1F4E79"/>
                </a:solidFill>
                <a:latin typeface="Calibri"/>
                <a:cs typeface="Calibri"/>
              </a:rPr>
              <a:t>Тема, задел и гипотеза проекта</a:t>
            </a:r>
          </a:p>
        </p:txBody>
      </p:sp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9331036" y="644871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202" name="Тема"/>
          <p:cNvSpPr txBox="1"/>
          <p:nvPr/>
        </p:nvSpPr>
        <p:spPr>
          <a:xfrm>
            <a:off x="1754908" y="1900000"/>
            <a:ext cx="9598890" cy="10600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400" b="1" i="0" dirty="0">
                <a:solidFill>
                  <a:srgbClr val="CFE0F1"/>
                </a:solidFill>
                <a:latin typeface="Calibri"/>
                <a:cs typeface="Calibri"/>
              </a:rPr>
              <a:t>ТЕМА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FFFFFF"/>
                </a:solidFill>
                <a:latin typeface="Calibri"/>
                <a:cs typeface="Calibri"/>
              </a:rPr>
              <a:t>Разработка веб-калькулятора SunCount для оценки срока окупаемости домашней сетевой СЭС 3–10 кВт с учётом тарифа и условий микрогенерации для владельцев частных домов Адыгеи и Краснодарского края</a:t>
            </a:r>
          </a:p>
        </p:txBody>
      </p:sp>
      <p:sp>
        <p:nvSpPr>
          <p:cNvPr id="203" name="Задел"/>
          <p:cNvSpPr txBox="1"/>
          <p:nvPr/>
        </p:nvSpPr>
        <p:spPr>
          <a:xfrm>
            <a:off x="1754908" y="3060000"/>
            <a:ext cx="4662285" cy="296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600" b="1" i="0" dirty="0">
                <a:solidFill>
                  <a:srgbClr val="1F4E79"/>
                </a:solidFill>
                <a:latin typeface="Calibri"/>
                <a:cs typeface="Calibri"/>
              </a:rPr>
              <a:t>ЗАДЕЛ — на что уже опираемся</a:t>
            </a:r>
          </a:p>
          <a:p>
            <a:pPr marL="228600" indent="-22860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Clr>
                <a:srgbClr val="1F4E79"/>
              </a:buClr>
              <a:buFont typeface="Arial"/>
              <a:buChar char="•"/>
            </a:pP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Законы о микрогенерации 2026: 208‑ФЗ, № 2675‑р</a:t>
            </a:r>
          </a:p>
          <a:p>
            <a:pPr marL="228600" indent="-22860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Clr>
                <a:srgbClr val="1F4E79"/>
              </a:buClr>
              <a:buFont typeface="Arial"/>
              <a:buChar char="•"/>
            </a:pP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Тарифы 2026 по приказу ДГРТ: город и село</a:t>
            </a:r>
          </a:p>
          <a:p>
            <a:pPr marL="228600" indent="-22860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Clr>
                <a:srgbClr val="1F4E79"/>
              </a:buClr>
              <a:buFont typeface="Arial"/>
              <a:buChar char="•"/>
            </a:pP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Цены выкупа ТНС энерго Кубань за 20 месяцев</a:t>
            </a:r>
          </a:p>
          <a:p>
            <a:pPr marL="228600" indent="-22860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Clr>
                <a:srgbClr val="1F4E79"/>
              </a:buClr>
              <a:buFont typeface="Arial"/>
              <a:buChar char="•"/>
            </a:pP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Выработка PVGIS: ≈ 1240 кВт·ч на 1 кВт в год</a:t>
            </a:r>
          </a:p>
          <a:p>
            <a:pPr marL="228600" indent="-22860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Clr>
                <a:srgbClr val="1F4E79"/>
              </a:buClr>
              <a:buFont typeface="Arial"/>
              <a:buChar char="•"/>
            </a:pP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Капзатраты 3/5/10 кВт: 249/402/746 тыс. ₽</a:t>
            </a:r>
          </a:p>
          <a:p>
            <a:pPr marL="228600" indent="-22860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Clr>
                <a:srgbClr val="1F4E79"/>
              </a:buClr>
              <a:buFont typeface="Arial"/>
              <a:buChar char="•"/>
            </a:pP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Экономическая модель на Python и первый расчёт</a:t>
            </a:r>
          </a:p>
          <a:p>
            <a:pPr marL="228600" indent="-22860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Clr>
                <a:srgbClr val="1F4E79"/>
              </a:buClr>
              <a:buFont typeface="Arial"/>
              <a:buChar char="•"/>
            </a:pP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Профили потребления от команды 1 до 04.12</a:t>
            </a:r>
          </a:p>
        </p:txBody>
      </p:sp>
      <p:sp>
        <p:nvSpPr>
          <p:cNvPr id="204" name="Гипотеза"/>
          <p:cNvSpPr txBox="1"/>
          <p:nvPr/>
        </p:nvSpPr>
        <p:spPr>
          <a:xfrm>
            <a:off x="6691513" y="3060000"/>
            <a:ext cx="4662285" cy="296000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txBody>
          <a:bodyPr wrap="square" lIns="137160" tIns="137160" rIns="137160" bIns="13716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ru-RU" sz="1600" b="1" i="0" dirty="0">
                <a:solidFill>
                  <a:srgbClr val="1F4E79"/>
                </a:solidFill>
                <a:latin typeface="Calibri"/>
                <a:cs typeface="Calibri"/>
              </a:rPr>
              <a:t>ГИПОТЕЗА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ru-RU" sz="1400" b="1" i="0" dirty="0">
                <a:solidFill>
                  <a:srgbClr val="1A1A1A"/>
                </a:solidFill>
                <a:latin typeface="Calibri"/>
                <a:cs typeface="Calibri"/>
              </a:rPr>
              <a:t>Если </a:t>
            </a: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рассчитать эффект СЭС 3–10 кВт для частных домов региона, </a:t>
            </a:r>
            <a:r>
              <a:rPr lang="ru-RU" sz="1400" b="1" i="0" dirty="0">
                <a:solidFill>
                  <a:srgbClr val="1A1A1A"/>
                </a:solidFill>
                <a:latin typeface="Calibri"/>
                <a:cs typeface="Calibri"/>
              </a:rPr>
              <a:t>то </a:t>
            </a: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доход от продажи излишков составит ≤ 20 % годового эффекта, </a:t>
            </a:r>
            <a:r>
              <a:rPr lang="ru-RU" sz="1400" b="1" i="0" dirty="0">
                <a:solidFill>
                  <a:srgbClr val="1A1A1A"/>
                </a:solidFill>
                <a:latin typeface="Calibri"/>
                <a:cs typeface="Calibri"/>
              </a:rPr>
              <a:t>потому что </a:t>
            </a: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излишки выкупаются дешевле тарифа, а главная выгода — замещение покупной энергии.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400" b="1" i="0" dirty="0">
                <a:solidFill>
                  <a:srgbClr val="1F4E79"/>
                </a:solidFill>
                <a:latin typeface="Calibri"/>
                <a:cs typeface="Calibri"/>
              </a:rPr>
              <a:t>Показатель: </a:t>
            </a: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доля излишков в эффекте, %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ru-RU" sz="1400" b="1" i="0" dirty="0">
                <a:solidFill>
                  <a:srgbClr val="1F4E79"/>
                </a:solidFill>
                <a:latin typeface="Calibri"/>
                <a:cs typeface="Calibri"/>
              </a:rPr>
              <a:t>Критерий успеха: </a:t>
            </a: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≤ 20 % в ≥ 80 % сочетаний «профиль × тариф × мощность»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1F4E79"/>
                </a:solidFill>
                <a:latin typeface="Calibri"/>
                <a:cs typeface="Calibri"/>
              </a:rPr>
              <a:t>Минимальный тест: </a:t>
            </a:r>
            <a:r>
              <a:rPr lang="ru-RU" sz="1400" b="0" i="0" dirty="0">
                <a:solidFill>
                  <a:srgbClr val="1A1A1A"/>
                </a:solidFill>
                <a:latin typeface="Calibri"/>
                <a:cs typeface="Calibri"/>
              </a:rPr>
              <a:t>расчёт на условных долях самопотребления 20–80 % — пока не подтверждается (12–83 %); финал — на профилях команды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244</Words>
  <Application>Microsoft Office PowerPoint</Application>
  <PresentationFormat>Широкоэкранный</PresentationFormat>
  <Paragraphs>23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Тема Office</vt:lpstr>
      <vt:lpstr>SunCount Калькулятор окупаемости домашней солнечной электростанции для Адыгеи и Краснодарского края</vt:lpstr>
      <vt:lpstr>Тема, задел и гипотеза проекта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OSB</dc:creator>
  <cp:lastModifiedBy>Пользователь</cp:lastModifiedBy>
  <cp:revision>2</cp:revision>
  <dcterms:modified xsi:type="dcterms:W3CDTF">2026-10-16T18:19:49Z</dcterms:modified>
</cp:coreProperties>
</file>