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8" r:id="rId5"/>
  </p:sldMasterIdLst>
  <p:notesMasterIdLst>
    <p:notesMasterId r:id="rId6"/>
  </p:notesMasterIdLst>
  <p:sldIdLst>
    <p:sldId id="256" r:id="rId7"/>
    <p:sldId id="260" r:id="rId11"/>
    <p:sldId id="257" r:id="rId8"/>
    <p:sldId id="261" r:id="rId12"/>
    <p:sldId id="258" r:id="rId9"/>
    <p:sldId id="259" r:id="rId10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D5858E-0472-4221-AF6B-E0DA35155479}">
  <a:tblStyle styleId="{10D5858E-0472-4221-AF6B-E0DA3515547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Покупка излишков у микрогенерации, ТНС энерго Кубань, тыс. кВт·ч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Sheet1!$A$2:$A$7</c:f>
              <c:strCache>
                <c:ptCount val="6"/>
                <c:pt idx="0">
                  <c:v>март</c:v>
                </c:pt>
                <c:pt idx="1">
                  <c:v>апр.</c:v>
                </c:pt>
                <c:pt idx="2">
                  <c:v>май</c:v>
                </c:pt>
                <c:pt idx="3">
                  <c:v>июнь</c:v>
                </c:pt>
                <c:pt idx="4">
                  <c:v>июль</c:v>
                </c:pt>
                <c:pt idx="5">
                  <c:v>авг.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72.9</c:v>
                </c:pt>
                <c:pt idx="2">
                  <c:v>115.7</c:v>
                </c:pt>
                <c:pt idx="3">
                  <c:v>144.2</c:v>
                </c:pt>
                <c:pt idx="4">
                  <c:v>122.0</c:v>
                </c:pt>
                <c:pt idx="5">
                  <c:v>135.4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Sheet1!$A$2:$A$7</c:f>
              <c:strCache>
                <c:ptCount val="6"/>
                <c:pt idx="0">
                  <c:v>март</c:v>
                </c:pt>
                <c:pt idx="1">
                  <c:v>апр.</c:v>
                </c:pt>
                <c:pt idx="2">
                  <c:v>май</c:v>
                </c:pt>
                <c:pt idx="3">
                  <c:v>июнь</c:v>
                </c:pt>
                <c:pt idx="4">
                  <c:v>июль</c:v>
                </c:pt>
                <c:pt idx="5">
                  <c:v>авг.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125.1</c:v>
                </c:pt>
                <c:pt idx="1">
                  <c:v>206.9</c:v>
                </c:pt>
                <c:pt idx="2">
                  <c:v>335.7</c:v>
                </c:pt>
                <c:pt idx="3">
                  <c:v>451.7</c:v>
                </c:pt>
                <c:pt idx="4">
                  <c:v>427.2</c:v>
                </c:pt>
                <c:pt idx="5">
                  <c:v>429.0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" type="body"/>
          </p:nvPr>
        </p:nvSpPr>
        <p:spPr>
          <a:xfrm>
            <a:off x="832754" y="4714028"/>
            <a:ext cx="6528605" cy="69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" name="Google Shape;17;p2"/>
          <p:cNvSpPr txBox="1"/>
          <p:nvPr>
            <p:ph idx="2" type="body"/>
          </p:nvPr>
        </p:nvSpPr>
        <p:spPr>
          <a:xfrm>
            <a:off x="3581400" y="2389596"/>
            <a:ext cx="6587835" cy="1856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" name="Google Shape;18;p2"/>
          <p:cNvSpPr/>
          <p:nvPr/>
        </p:nvSpPr>
        <p:spPr>
          <a:xfrm>
            <a:off x="10235810" y="1805297"/>
            <a:ext cx="1800000" cy="1800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QR на важный ресурс (мессенджер, лендинг)</a:t>
            </a:r>
            <a:endParaRPr/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875776" y="169275"/>
            <a:ext cx="648558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" name="Google Shape;20;p2"/>
          <p:cNvCxnSpPr/>
          <p:nvPr/>
        </p:nvCxnSpPr>
        <p:spPr>
          <a:xfrm>
            <a:off x="7446346" y="271771"/>
            <a:ext cx="0" cy="1070655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2"/>
          <p:cNvCxnSpPr/>
          <p:nvPr/>
        </p:nvCxnSpPr>
        <p:spPr>
          <a:xfrm>
            <a:off x="851741" y="4338209"/>
            <a:ext cx="0" cy="1070655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" name="Google Shape;22;p2"/>
          <p:cNvCxnSpPr/>
          <p:nvPr/>
        </p:nvCxnSpPr>
        <p:spPr>
          <a:xfrm>
            <a:off x="851741" y="5501197"/>
            <a:ext cx="0" cy="788767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446346" y="4338199"/>
            <a:ext cx="0" cy="1951765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" name="Google Shape;24;p2"/>
          <p:cNvSpPr/>
          <p:nvPr/>
        </p:nvSpPr>
        <p:spPr>
          <a:xfrm>
            <a:off x="851741" y="1805297"/>
            <a:ext cx="2593419" cy="24263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фото</a:t>
            </a:r>
            <a:endParaRPr/>
          </a:p>
        </p:txBody>
      </p:sp>
      <p:sp>
        <p:nvSpPr>
          <p:cNvPr id="25" name="Google Shape;25;p2"/>
          <p:cNvSpPr txBox="1"/>
          <p:nvPr>
            <p:ph idx="3" type="body"/>
          </p:nvPr>
        </p:nvSpPr>
        <p:spPr>
          <a:xfrm>
            <a:off x="7531331" y="670926"/>
            <a:ext cx="4448232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" name="Google Shape;26;p2"/>
          <p:cNvSpPr txBox="1"/>
          <p:nvPr>
            <p:ph idx="4" type="body"/>
          </p:nvPr>
        </p:nvSpPr>
        <p:spPr>
          <a:xfrm>
            <a:off x="832754" y="5769756"/>
            <a:ext cx="6528605" cy="45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" name="Google Shape;27;p2"/>
          <p:cNvSpPr txBox="1"/>
          <p:nvPr>
            <p:ph idx="5" type="body"/>
          </p:nvPr>
        </p:nvSpPr>
        <p:spPr>
          <a:xfrm>
            <a:off x="7549804" y="4682279"/>
            <a:ext cx="4486000" cy="1540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2"/>
          <p:cNvSpPr txBox="1"/>
          <p:nvPr/>
        </p:nvSpPr>
        <p:spPr>
          <a:xfrm>
            <a:off x="832755" y="4353130"/>
            <a:ext cx="6515456" cy="369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Ключевые компетенции</a:t>
            </a: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832755" y="5421428"/>
            <a:ext cx="65154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Образование и сертификации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7531331" y="163177"/>
            <a:ext cx="4466703" cy="369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Ссылки</a:t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3570510" y="1812339"/>
            <a:ext cx="6411690" cy="369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Экспертные роли</a:t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7549804" y="4338199"/>
            <a:ext cx="44859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Топ открытых кейсов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35" name="Google Shape;35;p2"/>
          <p:cNvCxnSpPr/>
          <p:nvPr/>
        </p:nvCxnSpPr>
        <p:spPr>
          <a:xfrm>
            <a:off x="1754908" y="1736870"/>
            <a:ext cx="8673000" cy="0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 txBox="1"/>
          <p:nvPr>
            <p:ph type="ctrTitle"/>
          </p:nvPr>
        </p:nvSpPr>
        <p:spPr>
          <a:xfrm>
            <a:off x="1754908" y="1122363"/>
            <a:ext cx="959889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200"/>
              <a:buFont typeface="Calibri"/>
              <a:buNone/>
              <a:defRPr b="1" sz="4200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" type="subTitle"/>
          </p:nvPr>
        </p:nvSpPr>
        <p:spPr>
          <a:xfrm>
            <a:off x="1754908" y="3602038"/>
            <a:ext cx="959889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3"/>
          <p:cNvSpPr/>
          <p:nvPr/>
        </p:nvSpPr>
        <p:spPr>
          <a:xfrm>
            <a:off x="0" y="5349876"/>
            <a:ext cx="12192000" cy="150812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3"/>
          <p:cNvPicPr preferRelativeResize="0"/>
          <p:nvPr/>
        </p:nvPicPr>
        <p:blipFill rotWithShape="1">
          <a:blip r:embed="rId2">
            <a:alphaModFix/>
          </a:blip>
          <a:srcRect b="0" l="4353" r="2772" t="4341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2" name="Google Shape;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Calibri"/>
              <a:buNone/>
              <a:defRPr b="1" sz="3200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" type="body"/>
          </p:nvPr>
        </p:nvSpPr>
        <p:spPr>
          <a:xfrm>
            <a:off x="1754908" y="1825626"/>
            <a:ext cx="95988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6" name="Google Shape;46;p4"/>
          <p:cNvCxnSpPr/>
          <p:nvPr/>
        </p:nvCxnSpPr>
        <p:spPr>
          <a:xfrm>
            <a:off x="1754908" y="1736870"/>
            <a:ext cx="8672947" cy="0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7" name="Google Shape;47;p4"/>
          <p:cNvPicPr preferRelativeResize="0"/>
          <p:nvPr/>
        </p:nvPicPr>
        <p:blipFill rotWithShape="1">
          <a:blip r:embed="rId2">
            <a:alphaModFix/>
          </a:blip>
          <a:srcRect b="0" l="4353" r="2772" t="4341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idx="1" type="body"/>
          </p:nvPr>
        </p:nvSpPr>
        <p:spPr>
          <a:xfrm>
            <a:off x="7088908" y="1825625"/>
            <a:ext cx="42648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Calibri"/>
              <a:buNone/>
              <a:defRPr b="1" sz="3200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4" name="Google Shape;54;p5"/>
          <p:cNvCxnSpPr/>
          <p:nvPr/>
        </p:nvCxnSpPr>
        <p:spPr>
          <a:xfrm>
            <a:off x="1754908" y="1736870"/>
            <a:ext cx="8672947" cy="0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1784925" y="1825625"/>
            <a:ext cx="42648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5"/>
          <p:cNvPicPr preferRelativeResize="0"/>
          <p:nvPr/>
        </p:nvPicPr>
        <p:blipFill rotWithShape="1">
          <a:blip r:embed="rId2">
            <a:alphaModFix/>
          </a:blip>
          <a:srcRect b="0" l="4353" r="2772" t="4341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Два объекта">
  <p:cSld name="1_Два объекта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idx="1" type="body"/>
          </p:nvPr>
        </p:nvSpPr>
        <p:spPr>
          <a:xfrm>
            <a:off x="7088908" y="1825625"/>
            <a:ext cx="42648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Calibri"/>
              <a:buNone/>
              <a:defRPr b="1" sz="3200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" name="Google Shape;63;p6"/>
          <p:cNvCxnSpPr/>
          <p:nvPr/>
        </p:nvCxnSpPr>
        <p:spPr>
          <a:xfrm>
            <a:off x="1754908" y="1736870"/>
            <a:ext cx="8672947" cy="0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6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0" l="4353" r="2772" t="4341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idx="1" type="body"/>
          </p:nvPr>
        </p:nvSpPr>
        <p:spPr>
          <a:xfrm>
            <a:off x="1754908" y="1681163"/>
            <a:ext cx="424266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7"/>
          <p:cNvSpPr txBox="1"/>
          <p:nvPr>
            <p:ph idx="2" type="body"/>
          </p:nvPr>
        </p:nvSpPr>
        <p:spPr>
          <a:xfrm>
            <a:off x="1754908" y="2551257"/>
            <a:ext cx="4242667" cy="360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Calibri"/>
              <a:buNone/>
              <a:defRPr b="1" sz="3200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2" name="Google Shape;72;p7"/>
          <p:cNvCxnSpPr/>
          <p:nvPr/>
        </p:nvCxnSpPr>
        <p:spPr>
          <a:xfrm>
            <a:off x="1754908" y="1736870"/>
            <a:ext cx="8672947" cy="0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7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7"/>
          <p:cNvPicPr preferRelativeResize="0"/>
          <p:nvPr/>
        </p:nvPicPr>
        <p:blipFill rotWithShape="1">
          <a:blip r:embed="rId2">
            <a:alphaModFix/>
          </a:blip>
          <a:srcRect b="0" l="4353" r="2772" t="4341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7"/>
          <p:cNvSpPr txBox="1"/>
          <p:nvPr>
            <p:ph idx="3" type="body"/>
          </p:nvPr>
        </p:nvSpPr>
        <p:spPr>
          <a:xfrm>
            <a:off x="7111132" y="1702668"/>
            <a:ext cx="424266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7"/>
          <p:cNvSpPr txBox="1"/>
          <p:nvPr>
            <p:ph idx="4" type="body"/>
          </p:nvPr>
        </p:nvSpPr>
        <p:spPr>
          <a:xfrm>
            <a:off x="7111132" y="2572762"/>
            <a:ext cx="4242667" cy="360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>
  <p:cSld name="Только заголовок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Calibri"/>
              <a:buNone/>
              <a:defRPr b="1" sz="3200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1" name="Google Shape;81;p8"/>
          <p:cNvCxnSpPr/>
          <p:nvPr/>
        </p:nvCxnSpPr>
        <p:spPr>
          <a:xfrm>
            <a:off x="1754908" y="1736870"/>
            <a:ext cx="8672947" cy="0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" name="Google Shape;82;p8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8"/>
          <p:cNvPicPr preferRelativeResize="0"/>
          <p:nvPr/>
        </p:nvPicPr>
        <p:blipFill rotWithShape="1">
          <a:blip r:embed="rId2">
            <a:alphaModFix/>
          </a:blip>
          <a:srcRect b="0" l="4353" r="2772" t="4341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/>
          <p:cNvPicPr preferRelativeResize="0"/>
          <p:nvPr/>
        </p:nvPicPr>
        <p:blipFill rotWithShape="1">
          <a:blip r:embed="rId2">
            <a:alphaModFix/>
          </a:blip>
          <a:srcRect b="0" l="4353" r="2772" t="4341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олько заголовок">
  <p:cSld name="1_Только заголовок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/>
          <p:nvPr>
            <p:ph type="title"/>
          </p:nvPr>
        </p:nvSpPr>
        <p:spPr>
          <a:xfrm>
            <a:off x="1034472" y="254288"/>
            <a:ext cx="636385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Calibri"/>
              <a:buNone/>
              <a:defRPr b="1" sz="3200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0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1801090" y="1709738"/>
            <a:ext cx="9546359" cy="285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200"/>
              <a:buFont typeface="Calibri"/>
              <a:buNone/>
              <a:defRPr b="1" sz="4200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>
            <a:off x="1801090" y="4589463"/>
            <a:ext cx="954636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8" name="Google Shape;98;p11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1"/>
          <p:cNvPicPr preferRelativeResize="0"/>
          <p:nvPr/>
        </p:nvPicPr>
        <p:blipFill rotWithShape="1">
          <a:blip r:embed="rId2">
            <a:alphaModFix/>
          </a:blip>
          <a:srcRect b="0" l="4353" r="2772" t="4341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801090" y="365125"/>
            <a:ext cx="95527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200"/>
              <a:buFont typeface="Calibri"/>
              <a:buNone/>
              <a:defRPr b="1" i="0" sz="42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801090" y="1871807"/>
            <a:ext cx="955271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17764" y="6448712"/>
            <a:ext cx="18209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448713"/>
            <a:ext cx="4102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ctrTitle"/>
          </p:nvPr>
        </p:nvSpPr>
        <p:spPr>
          <a:xfrm>
            <a:off x="1754908" y="1122363"/>
            <a:ext cx="959889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E4E79"/>
              </a:buClr>
              <a:buSzPts val="4200"/>
              <a:buFont typeface="Calibri"/>
              <a:buNone/>
            </a:pPr>
            <a:r>
              <a:t/>
            </a:r>
            <a:r>
              <a:rPr b="0"/>
              <a:t>SunCount: окупаемость домашней солнечной электростанции в Адыгее и Краснодарском крае</a:t>
            </a:r>
            <a:endParaRPr/>
          </a:p>
        </p:txBody>
      </p:sp>
      <p:sp>
        <p:nvSpPr>
          <p:cNvPr id="107" name="Google Shape;107;p12"/>
          <p:cNvSpPr txBox="1"/>
          <p:nvPr>
            <p:ph idx="1" type="subTitle"/>
          </p:nvPr>
        </p:nvSpPr>
        <p:spPr>
          <a:xfrm>
            <a:off x="1754908" y="3602038"/>
            <a:ext cx="959889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r>
              <a:rPr b="1" sz="1600"/>
              <a:t>Проблема потребителя и держатель проблемы</a:t>
            </a:r>
            <a:endParaRPr/>
          </a:p>
          <a:p>
            <a:pPr algn="l" marL="0" indent="0">
              <a:spcAft>
                <a:spcPts val="600"/>
              </a:spcAft>
              <a:buNone/>
            </a:pPr>
            <a:r>
              <a:rPr b="1" sz="1600"/>
              <a:t>Команда 2: </a:t>
            </a:r>
            <a:r>
              <a:rPr b="0" sz="1600"/>
              <a:t>Власов Кирилл, Прищепа Максим, Цирульник Юрий, Кривоносов Вячеслав, Рогочий Александр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b="1" sz="1600"/>
              <a:t>Наставник: </a:t>
            </a:r>
            <a:r>
              <a:rPr b="0" sz="1600"/>
              <a:t>Онищенко Стефан Владимирович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b="0" sz="1600"/>
              <a:t>Майкоп, 17 октября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E4E79"/>
              </a:buClr>
              <a:buSzPts val="3200"/>
              <a:buFont typeface="Calibri"/>
              <a:buNone/>
            </a:pPr>
            <a:r>
              <a:t/>
            </a:r>
            <a:r>
              <a:rPr b="0"/>
              <a:t>Проблема потребителя</a:t>
            </a:r>
            <a:endParaRPr/>
          </a:p>
        </p:txBody>
      </p:sp>
      <p:sp>
        <p:nvSpPr>
          <p:cNvPr id="113" name="Google Shape;113;p13"/>
          <p:cNvSpPr txBox="1"/>
          <p:nvPr>
            <p:ph idx="1" type="body"/>
          </p:nvPr>
        </p:nvSpPr>
        <p:spPr>
          <a:xfrm>
            <a:off x="1754908" y="1825626"/>
            <a:ext cx="95988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r>
              <a:rPr b="1" sz="1800"/>
              <a:t>Владельцы частных домов в Адыгее и Краснодарском крае не могут до покупки солнечной электростанции достоверно оценить срок её окупаемости, </a:t>
            </a:r>
            <a:r>
              <a:rPr b="0" sz="1800"/>
              <a:t>потому что он зависит от тарифа, режима потребления и цены выкупа излишков, а эти данные разрознены. В итоге люди отказываются от выгодных вложений, переплачивают за лишнюю мощность или остаются на невыгодном тарифе.</a:t>
            </a:r>
            <a:endParaRPr/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0" sz="1800"/>
              <a:t>Излишки выкупают по 4,3–6,4 ₽ за кВт·ч, а городской тариф — 8,31 ₽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0" sz="1800"/>
              <a:t>Для одной и той же станции 5 кВт простой срок окупаемости — от 7,6 до 13,4 года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0" sz="1800"/>
              <a:t>Сейчас спрашивают установщика, считают по простой формуле, читают статьи — ни один способ не учитывает тариф и цену выкупа</a:t>
            </a:r>
          </a:p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9331036" y="644871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idx="1" type="body"/>
          </p:nvPr>
        </p:nvSpPr>
        <p:spPr>
          <a:xfrm>
            <a:off x="7088908" y="1825625"/>
            <a:ext cx="42648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r>
              <a:rPr b="1" sz="1800"/>
              <a:t>Корневая причина</a:t>
            </a:r>
            <a:endParaRPr/>
          </a:p>
          <a:p>
            <a:pPr algn="l" marL="0" indent="0">
              <a:spcAft>
                <a:spcPts val="600"/>
              </a:spcAft>
              <a:buNone/>
            </a:pPr>
            <a:r>
              <a:rPr b="0" sz="1800"/>
              <a:t>Нет доступного независимого источника, который сводит региональные тарифы, правила выкупа и режим потребления конкретного дома в один прозрачный расчёт.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b="0" sz="1800"/>
              <a:t>Единственным «консультантом» для покупателя остаётся продавец оборудования.</a:t>
            </a:r>
          </a:p>
        </p:txBody>
      </p:sp>
      <p:sp>
        <p:nvSpPr>
          <p:cNvPr id="120" name="Google Shape;120;p14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E4E79"/>
              </a:buClr>
              <a:buSzPts val="3200"/>
              <a:buFont typeface="Calibri"/>
              <a:buNone/>
            </a:pPr>
            <a:r>
              <a:t/>
            </a:r>
            <a:r>
              <a:rPr b="0"/>
              <a:t>Анализ причин: 5 «почему»</a:t>
            </a:r>
            <a:endParaRPr/>
          </a:p>
        </p:txBody>
      </p:sp>
      <p:sp>
        <p:nvSpPr>
          <p:cNvPr id="121" name="Google Shape;121;p14"/>
          <p:cNvSpPr txBox="1"/>
          <p:nvPr>
            <p:ph idx="2" type="body"/>
          </p:nvPr>
        </p:nvSpPr>
        <p:spPr>
          <a:xfrm>
            <a:off x="1784925" y="1825625"/>
            <a:ext cx="42648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r>
              <a:rPr b="1" sz="1600"/>
              <a:t>1. </a:t>
            </a:r>
            <a:r>
              <a:rPr b="0" sz="1600"/>
              <a:t>Срок зависит от тарифа, доли самопотребления, цены выкупа и стоимости оборудования</a:t>
            </a:r>
            <a:endParaRPr/>
          </a:p>
          <a:p>
            <a:pPr algn="l" marL="0" indent="0">
              <a:spcAft>
                <a:spcPts val="600"/>
              </a:spcAft>
              <a:buNone/>
            </a:pPr>
            <a:r>
              <a:rPr b="1" sz="1600"/>
              <a:t>2. </a:t>
            </a:r>
            <a:r>
              <a:rPr b="0" sz="1600"/>
              <a:t>Эти данные разрознены и меняются каждый год и месяц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b="1" sz="1600"/>
              <a:t>3. </a:t>
            </a:r>
            <a:r>
              <a:rPr b="0" sz="1600"/>
              <a:t>Установщик заинтересован в продаже, поставщик не консультирует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b="1" sz="1600"/>
              <a:t>4. </a:t>
            </a:r>
            <a:r>
              <a:rPr b="0" sz="1600"/>
              <a:t>Простая формула и PVGIS не знают тарифов и правил выкупа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b="1" sz="1600"/>
              <a:t>5. </a:t>
            </a:r>
            <a:r>
              <a:rPr b="0" sz="1600"/>
              <a:t>Нужен помесячный расчёт на свежих данных — вручную это не сделать</a:t>
            </a:r>
          </a:p>
        </p:txBody>
      </p:sp>
      <p:sp>
        <p:nvSpPr>
          <p:cNvPr id="122" name="Google Shape;122;p14"/>
          <p:cNvSpPr txBox="1"/>
          <p:nvPr>
            <p:ph idx="12" type="sldNum"/>
          </p:nvPr>
        </p:nvSpPr>
        <p:spPr>
          <a:xfrm>
            <a:off x="9331036" y="644871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088908" y="1825625"/>
            <a:ext cx="42648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</a:pPr>
            <a:r>
              <a:t/>
            </a:r>
            <a:r>
              <a:rPr b="1" sz="1400"/>
              <a:t>Открытые данные ТНС: </a:t>
            </a:r>
            <a:r>
              <a:rPr b="0" sz="1400"/>
              <a:t>объёмы выкупа выросли втрое, цена выкупа ниже тарифа</a:t>
            </a:r>
            <a:endParaRPr/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1" sz="1400"/>
              <a:t>Нормативка: </a:t>
            </a:r>
            <a:r>
              <a:rPr b="0" sz="1400"/>
              <a:t>приказ ДГРТ № 18/2025-э, ПП № 442, 208-ФЗ, ст. 217 НК РФ — правила сложные и меняются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1" sz="1400"/>
              <a:t>Аналоги: </a:t>
            </a:r>
            <a:r>
              <a:rPr b="0" sz="1400"/>
              <a:t>калькулятора с тарифами региона нет, у установщиков «расчёт по запросу»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1" sz="1400"/>
              <a:t>Наш расчёт: </a:t>
            </a:r>
            <a:r>
              <a:rPr b="0" sz="1400"/>
              <a:t>срок для 5 кВт — от 7,6 до 13,4 года</a:t>
            </a:r>
          </a:p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E4E79"/>
              </a:buClr>
              <a:buSzPts val="3200"/>
              <a:buFont typeface="Calibri"/>
              <a:buNone/>
            </a:pPr>
            <a:r>
              <a:t/>
            </a:r>
            <a:r>
              <a:rPr b="0"/>
              <a:t>Верификация проблемы</a:t>
            </a:r>
            <a:endParaRPr/>
          </a:p>
        </p:txBody>
      </p:sp>
      <p:sp>
        <p:nvSpPr>
          <p:cNvPr id="129" name="Google Shape;129;p15"/>
          <p:cNvSpPr txBox="1"/>
          <p:nvPr>
            <p:ph idx="12" type="sldNum"/>
          </p:nvPr>
        </p:nvSpPr>
        <p:spPr>
          <a:xfrm>
            <a:off x="9331036" y="644871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130" name="Chart 129"/>
          <p:cNvGraphicFramePr>
            <a:graphicFrameLocks noGrp="1"/>
          </p:cNvGraphicFramePr>
          <p:nvPr/>
        </p:nvGraphicFramePr>
        <p:xfrm>
          <a:off x="1754908" y="1825625"/>
          <a:ext cx="5100000" cy="4351338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1754908" y="1681163"/>
            <a:ext cx="424266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r>
              <a:rPr b="1"/>
              <a:t>Как есть</a:t>
            </a:r>
            <a:endParaRPr/>
          </a:p>
        </p:txBody>
      </p:sp>
      <p:sp>
        <p:nvSpPr>
          <p:cNvPr id="135" name="Google Shape;135;p16"/>
          <p:cNvSpPr txBox="1"/>
          <p:nvPr>
            <p:ph idx="2" type="body"/>
          </p:nvPr>
        </p:nvSpPr>
        <p:spPr>
          <a:xfrm>
            <a:off x="1754908" y="2551257"/>
            <a:ext cx="4242667" cy="360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</a:pPr>
            <a:r>
              <a:t/>
            </a:r>
            <a:r>
              <a:rPr b="0" sz="1600"/>
              <a:t>Срок окупаемости человек узнаёт от продавца или из статей</a:t>
            </a:r>
            <a:endParaRPr/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0" sz="1600"/>
              <a:t>Цены «под ключ» не публикуются, только «расчёт по запросу»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0" sz="1600"/>
              <a:t>Тарифы и цены выкупа разбросаны по приказам и отчётам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1" sz="1600"/>
              <a:t>Итог: </a:t>
            </a:r>
            <a:r>
              <a:rPr b="0" sz="1600"/>
              <a:t>решение на 250–750 тыс. ₽ принимается почти наугад</a:t>
            </a:r>
          </a:p>
        </p:txBody>
      </p:sp>
      <p:sp>
        <p:nvSpPr>
          <p:cNvPr id="136" name="Google Shape;136;p16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E4E79"/>
              </a:buClr>
              <a:buSzPts val="3200"/>
              <a:buFont typeface="Calibri"/>
              <a:buNone/>
            </a:pPr>
            <a:r>
              <a:t/>
            </a:r>
            <a:r>
              <a:rPr b="0"/>
              <a:t>Проблемная ситуация</a:t>
            </a:r>
            <a:endParaRPr/>
          </a:p>
        </p:txBody>
      </p:sp>
      <p:sp>
        <p:nvSpPr>
          <p:cNvPr id="137" name="Google Shape;137;p16"/>
          <p:cNvSpPr txBox="1"/>
          <p:nvPr>
            <p:ph idx="3" type="body"/>
          </p:nvPr>
        </p:nvSpPr>
        <p:spPr>
          <a:xfrm>
            <a:off x="7111132" y="1702668"/>
            <a:ext cx="424266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r>
              <a:rPr b="1"/>
              <a:t>Как должно быть</a:t>
            </a:r>
            <a:endParaRPr/>
          </a:p>
        </p:txBody>
      </p:sp>
      <p:sp>
        <p:nvSpPr>
          <p:cNvPr id="138" name="Google Shape;138;p16"/>
          <p:cNvSpPr txBox="1"/>
          <p:nvPr>
            <p:ph idx="4" type="body"/>
          </p:nvPr>
        </p:nvSpPr>
        <p:spPr>
          <a:xfrm>
            <a:off x="7111132" y="2572762"/>
            <a:ext cx="4242667" cy="360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</a:pPr>
            <a:r>
              <a:t/>
            </a:r>
            <a:r>
              <a:rPr b="0" sz="1600"/>
              <a:t>До покупки владелец знает срок окупаемости именно для своего дома</a:t>
            </a:r>
            <a:endParaRPr/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0" sz="1600"/>
              <a:t>Понимает, какую мощность ставить и стоит ли менять тариф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0" sz="1600"/>
              <a:t>Оценка опирается на проверяемые данные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1" sz="1600"/>
              <a:t>Масштаб: </a:t>
            </a:r>
            <a:r>
              <a:rPr b="0" sz="1600"/>
              <a:t>региональный (один поставщик и единые тарифы), но типичный для всей России</a:t>
            </a: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9331036" y="644871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E4E79"/>
              </a:buClr>
              <a:buSzPts val="3200"/>
              <a:buFont typeface="Calibri"/>
              <a:buNone/>
            </a:pPr>
            <a:r>
              <a:t/>
            </a:r>
            <a:r>
              <a:rPr b="0"/>
              <a:t>Держатель проблемы</a:t>
            </a:r>
            <a:endParaRPr/>
          </a:p>
        </p:txBody>
      </p:sp>
      <p:sp>
        <p:nvSpPr>
          <p:cNvPr id="145" name="Google Shape;145;p17"/>
          <p:cNvSpPr txBox="1"/>
          <p:nvPr>
            <p:ph idx="12" type="sldNum"/>
          </p:nvPr>
        </p:nvSpPr>
        <p:spPr>
          <a:xfrm>
            <a:off x="9331036" y="644871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1754908" y="1825626"/>
          <a:ext cx="9598892" cy="4099998"/>
        </p:xfrm>
        <a:graphic>
          <a:graphicData uri="http://schemas.openxmlformats.org/drawingml/2006/table">
            <a:tbl>
              <a:tblPr firstRow="0" bandRow="0">
                <a:tableStyleId>{10D5858E-0472-4221-AF6B-E0DA35155479}</a:tableStyleId>
              </a:tblPr>
              <a:tblGrid>
                <a:gridCol w="2900000"/>
                <a:gridCol w="6698892"/>
              </a:tblGrid>
              <a:tr h="585714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Содержание</a:t>
                      </a:r>
                    </a:p>
                  </a:txBody>
                  <a:tcPr/>
                </a:tc>
              </a:tr>
              <a:tr h="585714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Держатель проблемы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Собственник частного дома, который рассматривает сетевую СЭС 3–10 кВт</a:t>
                      </a:r>
                    </a:p>
                  </a:txBody>
                  <a:tcPr/>
                </a:tc>
              </a:tr>
              <a:tr h="585714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Роль держателя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Решает о покупке и тарифе, платит за станцию, оформляет микрогенерацию</a:t>
                      </a:r>
                    </a:p>
                  </a:txBody>
                  <a:tcPr/>
                </a:tc>
              </a:tr>
              <a:tr h="585714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Ключевая боль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Вложить 250–750 тыс. ₽, не зная, окупится ли станция и когда</a:t>
                      </a:r>
                    </a:p>
                  </a:txBody>
                  <a:tcPr/>
                </a:tc>
              </a:tr>
              <a:tr h="585714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Что уже пробовал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Расчёт у установщика, статьи и форумы, простая формула, PVGIS</a:t>
                      </a:r>
                    </a:p>
                  </a:txBody>
                  <a:tcPr/>
                </a:tc>
              </a:tr>
              <a:tr h="585714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Почему не решена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Оценки продавцов непрозрачны, тарифы и цены выкупа разрознены и меняются</a:t>
                      </a:r>
                    </a:p>
                  </a:txBody>
                  <a:tcPr/>
                </a:tc>
              </a:tr>
              <a:tr h="585714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Что получит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Обоснованное решение: покупать ли, какую мощность и тариф выбрать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E4E79"/>
              </a:buClr>
              <a:buSzPts val="3200"/>
              <a:buFont typeface="Calibri"/>
              <a:buNone/>
            </a:pPr>
            <a:r>
              <a:t/>
            </a:r>
            <a:r>
              <a:rPr b="0"/>
              <a:t>Выводы и следующий шаг</a:t>
            </a:r>
            <a:endParaRPr/>
          </a:p>
        </p:txBody>
      </p:sp>
      <p:sp>
        <p:nvSpPr>
          <p:cNvPr id="113" name="Google Shape;113;p13"/>
          <p:cNvSpPr txBox="1"/>
          <p:nvPr>
            <p:ph idx="1" type="body"/>
          </p:nvPr>
        </p:nvSpPr>
        <p:spPr>
          <a:xfrm>
            <a:off x="1754908" y="1825626"/>
            <a:ext cx="95988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</a:pPr>
            <a:r>
              <a:t/>
            </a:r>
            <a:r>
              <a:rPr b="1" sz="1800"/>
              <a:t>Проблема подтверждена: </a:t>
            </a:r>
            <a:r>
              <a:rPr b="0" sz="1800"/>
              <a:t>владелец дома не может до покупки оценить окупаемость станции в своих условиях</a:t>
            </a:r>
            <a:endParaRPr/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1" sz="1800"/>
              <a:t>Держатель проблемы — </a:t>
            </a:r>
            <a:r>
              <a:rPr b="0" sz="1800"/>
              <a:t>собственник дома: решает, платит и несёт риск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1" sz="1800"/>
              <a:t>Срочно: </a:t>
            </a:r>
            <a:r>
              <a:rPr b="0" sz="1800"/>
              <a:t>рынок вырос втрое за год, правила 2026 г. новые, с 2029 г. — НДФЛ с излишков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1" sz="1800"/>
              <a:t>Дальше: </a:t>
            </a:r>
            <a:r>
              <a:rPr b="0" sz="1800"/>
              <a:t>интервью с 5–7 владельцами СЭС и 2–3 установщиками, подтверждение цены выкупа в ТНС, реальные профили потребления от команды 1</a:t>
            </a:r>
          </a:p>
          <a:p>
            <a:pPr algn="l" marL="285750" indent="-285750">
              <a:spcAft>
                <a:spcPts val="600"/>
              </a:spcAft>
              <a:buChar char="•"/>
            </a:pPr>
            <a:r>
              <a:rPr b="1" sz="1800"/>
              <a:t>Проверяем гипотезу: </a:t>
            </a:r>
            <a:r>
              <a:rPr b="0" sz="1800"/>
              <a:t>доход от излишков — не более 20 % годового эффекта</a:t>
            </a:r>
          </a:p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9331036" y="644871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